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0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371600"/>
            <a:ext cx="137160" cy="4114800"/>
          </a:xfrm>
          <a:prstGeom prst="rect">
            <a:avLst/>
          </a:prstGeom>
          <a:solidFill>
            <a:srgbClr val="D85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D85C1C"/>
                </a:solidFill>
                <a:latin typeface="Arial"/>
              </a:defRPr>
            </a:pPr>
            <a:r>
              <a:t>DATA- &amp; COMPUTE-EFFICIENT GENERATIVE AI FOR ETHIOPIAN LANGUAGES</a:t>
            </a:r>
          </a:p>
          <a:p>
            <a:pPr>
              <a:spcAft>
                <a:spcPts val="2000"/>
              </a:spcAft>
              <a:defRPr sz="3200" b="1">
                <a:solidFill>
                  <a:srgbClr val="FFFFFF"/>
                </a:solidFill>
                <a:latin typeface="Arial"/>
              </a:defRPr>
            </a:pPr>
            <a:r>
              <a:t>Byte-Level Mamba vs. Transformer</a:t>
            </a:r>
            <a:br/>
            <a:r>
              <a:t>for Amharic with Brain-Inspired</a:t>
            </a:r>
            <a:br/>
            <a:r>
              <a:t>Continual Learning (Hayyuu)</a:t>
            </a:r>
          </a:p>
          <a:p>
            <a:pPr>
              <a:defRPr sz="1300">
                <a:solidFill>
                  <a:srgbClr val="B4C8E1"/>
                </a:solidFill>
                <a:latin typeface="Arial"/>
              </a:defRPr>
            </a:pPr>
            <a:r>
              <a:t>Presenter &amp; Author: Beknan Chemeda  |  Hardware: Nvidia RTX 3090 (24GB)</a:t>
            </a:r>
            <a:br/>
            <a:r>
              <a:t>Repository: https://github.com/BekiChemeda/ML-Research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85C1C"/>
                </a:solidFill>
                <a:latin typeface="Arial"/>
              </a:defRPr>
            </a:pPr>
            <a:r>
              <a:t>MOTIVATION &amp; PROBLEM STATEMENT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The Amharic AI Challenge: Low-Resource &amp; Token Tax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D85C1C"/>
                </a:solidFill>
                <a:latin typeface="Arial"/>
              </a:defRPr>
            </a:pPr>
            <a:r>
              <a:t>1. The Data Ceiling (&lt;500M Words)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Unlike English (trillions of web tokens), clean digital Amharic is strictly limited (&lt;500M words in the entire world).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Machine translation introduces severe grammatical corruption.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AI for Amharic cannot scale by brute-force data; it requires extreme architectural efficiency.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D85C1C"/>
                </a:solidFill>
                <a:latin typeface="Arial"/>
              </a:defRPr>
            </a:pPr>
            <a:r>
              <a:t>2. The Token Tax &amp; Fertility (3.5x)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Standard subword tokenizers (SentencePiece/BPE) are designed for Latin alphabets.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Ge'ez script (Unicode U+1200-U+137F) requires 3 bytes per character.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A single Amharic word fragments into 7+ byte pieces, multiplying latency and compute costs by 3.5x to 7x.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0F2043"/>
                </a:solidFill>
                <a:latin typeface="Arial"/>
              </a:defRPr>
            </a:pPr>
            <a:r>
              <a:t>3. Parameter Allocation Tax (63%)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On a 32k vocabulary with d_model=256, the embedding table consumes 8.19M weights.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62.8% of the entire model's parameters are trapped in vocabulary lookup rather than reasoning layers!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Byte-level modeling frees 97.7% of parameters for deep neural reasoning.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85C1C"/>
                </a:solidFill>
                <a:latin typeface="Arial"/>
              </a:defRPr>
            </a:pPr>
            <a:r>
              <a:t>ARCHITECTURAL COMPARISON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Architecture Duality: Quadratic Transformer vs. Linear Mamba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B42828"/>
                </a:solidFill>
                <a:latin typeface="Arial"/>
              </a:defRPr>
            </a:pPr>
            <a:r>
              <a:t>❌ Transformer Self-Attention: Quadratic O(L²)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Amharic raw byte sequences are ~3.5x longer than English token sequences.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Self-Attention Compute &amp; Memory scale quadratically: O(L²).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Tripling sequence length results in a 9x to 12x memory and latency penalty.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KV-cache explodes during generation, limiting deployment on local or edge hardware in Africa.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07C41"/>
                </a:solidFill>
                <a:latin typeface="Arial"/>
              </a:defRPr>
            </a:pPr>
            <a:r>
              <a:t>⚡ Selective State Space Mamba (S6): Linear O(L)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Replaces self-attention with a dynamic continuous state space: h' = Ah + Bx, y = Ch + Dx.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Processes sequences in strict linear time O(L) via Chunked Associative Parallel Scan.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Constant memory footprint during autoregressive generation (no KV-cache explosion).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Processes 384-byte sequences at 4.3 steps/second with only 4.2GB VRAM on RTX 3090!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85C1C"/>
                </a:solidFill>
                <a:latin typeface="Arial"/>
              </a:defRPr>
            </a:pPr>
            <a:r>
              <a:t>EXPERIMENTAL RESULTS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Empirical Benchmark: TinyMamba (2.7M) Outperforms Transformer (13M)</a:t>
            </a:r>
          </a:p>
        </p:txBody>
      </p:sp>
      <p:pic>
        <p:nvPicPr>
          <p:cNvPr id="3" name="Picture 2" descr="fig1_bpb_vs_parame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303520" cy="318211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0F2043"/>
                </a:solidFill>
                <a:latin typeface="Arial"/>
              </a:defRPr>
            </a:pPr>
            <a:r>
              <a:t>Key Experimental Discoveries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Universal Invariance with Bits-per-Byte (BPB): Evaluated on 1.465 GB clean Amharic text.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TinyMamba (2.73M Byte) achieved 1.322 BPB, strictly beating the 13.04M Transformer (1.579 BPB).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Mamba-Base (26.24M) achieved a new frontier record of 1.0613 BPB!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Efficiency Victory: TinyMamba delivered higher compression quality while using 4.7x fewer parameters and 3x less GPU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85C1C"/>
                </a:solidFill>
                <a:latin typeface="Arial"/>
              </a:defRPr>
            </a:pPr>
            <a:r>
              <a:t>EFFICIENCY ANALYSIS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Parameter Allocation Tax: Reclaiming Neural Capacity</a:t>
            </a:r>
          </a:p>
        </p:txBody>
      </p:sp>
      <p:pic>
        <p:nvPicPr>
          <p:cNvPr id="3" name="Picture 2" descr="fig2_parameter_allocation_t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303520" cy="26517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0F2043"/>
                </a:solidFill>
                <a:latin typeface="Arial"/>
              </a:defRPr>
            </a:pPr>
            <a:r>
              <a:t>Why Token-Free Byte Modeling Wins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SentencePiece 32k Transformer: 62.8% of all parameters wasted on embedding tables.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SentencePiece 16k Transformer: 45.7% of parameters trapped in embedding tables.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Byte-Level Mamba: Only 2.3% of parameters used for embeddings (vocab=256).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97.7% of total parameter budget is dedicated to multi-layer sequence modeling and deep reasoning.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85C1C"/>
                </a:solidFill>
                <a:latin typeface="Arial"/>
              </a:defRPr>
            </a:pPr>
            <a:r>
              <a:t>LIFELONG CONTINUAL LEARNING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Catastrophic Forgetting &amp; Complementary Learning Systems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B42828"/>
                </a:solidFill>
                <a:latin typeface="Arial"/>
              </a:defRPr>
            </a:pPr>
            <a:r>
              <a:t>❌ Standard Backpropagation (Gradient Drift)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Standard fine-tuning on live news updates causes global weight perturbation.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Result: Catastrophic Forgetting (Stability-Plasticity Dilemma).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Grammar retention drops to 42.1%, causing repetitive babbling and severe hallucination.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07C41"/>
                </a:solidFill>
                <a:latin typeface="Arial"/>
              </a:defRPr>
            </a:pPr>
            <a:r>
              <a:t>🧠 Complementary Learning Systems (CLS Architecture)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Inspired by McClelland, McNaughton, &amp; O'Reilly (1995).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Fast Hippocampus (Hebbian Memory Matrix M): 1-shot fact acquisition in 0.01 seconds without backprop.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Slow Neocortex (Mamba SSM): Stable, generalized linguistic grammar.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Zero Interference: Core weights remain untouched during live interactive daytime operation.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85C1C"/>
                </a:solidFill>
                <a:latin typeface="Arial"/>
              </a:defRPr>
            </a:pPr>
            <a:r>
              <a:t>NEURAL MEMORY MECHANISM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Hebbian Fast Weights &amp; Anti-Hopfield Synaptic Engrams</a:t>
            </a:r>
          </a:p>
        </p:txBody>
      </p:sp>
      <p:pic>
        <p:nvPicPr>
          <p:cNvPr id="3" name="Picture 2" descr="fig5_brai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486400" cy="2743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492240" y="1463040"/>
            <a:ext cx="49377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0F2043"/>
                </a:solidFill>
                <a:latin typeface="Arial"/>
              </a:defRPr>
            </a:pPr>
            <a:r>
              <a:t>The 1-Shot Anti-Hopfield Rule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Normalized key-value extraction: k = norm(W_k(x)), v = norm(W_v(x)).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Hebbian outer product error correction: ΔM = η (v - M k) kᵀ.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Associative recall during generation: y = W_out(M * k) added as gated residual bias.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Enables instant learning of new facts in 0.01 seconds with 100% immediate recall.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85C1C"/>
                </a:solidFill>
                <a:latin typeface="Arial"/>
              </a:defRPr>
            </a:pPr>
            <a:r>
              <a:t>SYNAPTIC CONSOLIDATION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Offline Sleep Consolidation: Sharp-Wave Ripple Replay</a:t>
            </a:r>
          </a:p>
        </p:txBody>
      </p:sp>
      <p:pic>
        <p:nvPicPr>
          <p:cNvPr id="3" name="Picture 2" descr="fig3_continual_learning_re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303520" cy="298323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0F2043"/>
                </a:solidFill>
                <a:latin typeface="Arial"/>
              </a:defRPr>
            </a:pPr>
            <a:r>
              <a:t>Consolidation Benchmark Results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NREM Sleep Emulation: Every 30 rounds, the agent enters sleep mode.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Sharp-Wave Ripples: Replays daytime episodic memories at 20x accelerated speed.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Replay Buffer Anchoring: Blends target memories with foundational anchor pairs to prevent Mode Collapse.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Final State: 100% Factual Retention + 100% Base Grammar Preservation!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85C1C"/>
                </a:solidFill>
                <a:latin typeface="Arial"/>
              </a:defRPr>
            </a:pPr>
            <a:r>
              <a:t>SYSTEM IMPLEMENTATION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Hayyuu: Autonomous Living Conversational Agent</a:t>
            </a:r>
          </a:p>
        </p:txBody>
      </p:sp>
      <p:pic>
        <p:nvPicPr>
          <p:cNvPr id="3" name="Picture 2" descr="fig4_sft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303520" cy="296997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0F2043"/>
                </a:solidFill>
                <a:latin typeface="Arial"/>
              </a:defRPr>
            </a:pPr>
            <a:r>
              <a:t>Full-Stack Deployment Pipeline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Supervised Fine-Tuning (SFT): Aligned on 4,359 high-quality native Amharic instruction pairs.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Prompt-Loss Masking: Targets masked on user prompt, dropping validation loss to 0.695 BPB.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Telegram Bot Integration: Live interactive chat with dual-candidate RLHF feedback.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Autonomous Self-Play Trainer: Continuous 24/7 self-teaching loop with Constitutional Judge.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85C1C"/>
                </a:solidFill>
                <a:latin typeface="Arial"/>
              </a:defRPr>
            </a:pPr>
            <a:r>
              <a:t>QUALITATIVE EVALUATION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Live Demonstration: Amharic Reasoning &amp; Identity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07C41"/>
                </a:solidFill>
                <a:latin typeface="Arial"/>
              </a:defRPr>
            </a:pPr>
            <a:r>
              <a:t>Identity &amp; Ethiopian History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Q: ስምህ ማነው? ማን ፈጠረህ?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🤖 Hayyuu: ሰላም! ስሜ ሃዩ (Hayyuu) ይባላል። እኔ በአማርኛ ቋንቋ የተገነባሁ የሰው ሰራሽ አስተውሎት ረዳት ነኝ፤ የተፈጠርኩት በ Beknan Chemeda ነው።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Q: የአክሱም ሐውልት የት ይገኛል?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🤖 Hayyuu: የአክሱም ሐውልት በትግራይ ክልል በአክሱም ከተማ የሚገኝ ታሪካዊ ቅርስ ነው።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0F2043"/>
                </a:solidFill>
                <a:latin typeface="Arial"/>
              </a:defRPr>
            </a:pPr>
            <a:r>
              <a:t>Science, AI &amp; Culture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Q: ሰው ሰራሽ አስተውሎት (AI) ምንድን ነው?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🤖 Hayyuu: ሰው ሰራሽ አስተውሎት የሰውን ልጅ የማሰብ፣ የመማር እና ችግር የመፍታት ችሎታ በኮምፒውተር የሚተገብር ቴክኖሎጂ ነው።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Q: የኢትዮጵያ የቡና ስነ-ስርዓት ምን ይመስላል?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🤖 Hayyuu: የቡና ስነ-ስርዓት ቤተሰብ እና ጎረቤት ተሰብስቦ የሚወያይበት ውብ የኢትዮጵያውያን ማህበራዊ ባህል ነው።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85C1C"/>
                </a:solidFill>
                <a:latin typeface="Arial"/>
              </a:defRPr>
            </a:pPr>
            <a:r>
              <a:t>CONCLUSION &amp; IMPACT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Summary of Contributions &amp; Global 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07C41"/>
                </a:solidFill>
                <a:latin typeface="Arial"/>
              </a:defRPr>
            </a:pPr>
            <a:r>
              <a:t>1. Token-Free Efficiency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Eliminated the Token Tax on African languages.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Proved byte-level Mamba surpasses subword Transformers while using 4.7x fewer parameters and 3x less VRAM.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07C41"/>
                </a:solidFill>
                <a:latin typeface="Arial"/>
              </a:defRPr>
            </a:pPr>
            <a:r>
              <a:t>2. Zero-Forgetting CLS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Engineered a bio-inspired dual-memory architecture.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1-shot live factual learning in 0.01s with 100% grammar retention via Sharp-Wave Ripple sleep replay.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07C41"/>
                </a:solidFill>
                <a:latin typeface="Arial"/>
              </a:defRPr>
            </a:pPr>
            <a:r>
              <a:t>3. Sovereign Ethiopian AI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Demonstrated that state-of-the-art generative AI for low-resource languages can be trained on a single commodity GPU.</a:t>
            </a:r>
          </a:p>
          <a:p>
            <a:pPr>
              <a:spcAft>
                <a:spcPts val="600"/>
              </a:spcAft>
              <a:defRPr sz="1200">
                <a:solidFill>
                  <a:srgbClr val="2D3748"/>
                </a:solidFill>
                <a:latin typeface="Arial"/>
              </a:defRPr>
            </a:pPr>
            <a:r>
              <a:t>• Fully reproducible open-source implementation.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0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  <a:defRPr sz="4000" b="1">
                <a:solidFill>
                  <a:srgbClr val="D85C1C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spcAft>
                <a:spcPts val="2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Questions &amp; Discussion</a:t>
            </a:r>
          </a:p>
          <a:p>
            <a:pPr algn="ctr">
              <a:defRPr sz="1400">
                <a:solidFill>
                  <a:srgbClr val="B4C8E1"/>
                </a:solidFill>
                <a:latin typeface="Arial"/>
              </a:defRPr>
            </a:pPr>
            <a:r>
              <a:t>Presenter: Beknan Chemeda</a:t>
            </a:r>
            <a:br/>
            <a:r>
              <a:t>GitHub: https://github.com/BekiChemeda/ML-Research</a:t>
            </a:r>
            <a:br/>
            <a:r>
              <a:t>Living Agent: Hayyuu Neural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